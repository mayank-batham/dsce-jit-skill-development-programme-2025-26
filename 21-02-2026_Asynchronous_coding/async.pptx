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69" r:id="rId1"/>
  </p:sldMasterIdLst>
  <p:sldIdLst>
    <p:sldId id="256" r:id="rId2"/>
    <p:sldId id="268" r:id="rId3"/>
    <p:sldId id="269" r:id="rId4"/>
    <p:sldId id="258" r:id="rId5"/>
    <p:sldId id="272" r:id="rId6"/>
    <p:sldId id="259" r:id="rId7"/>
    <p:sldId id="260" r:id="rId8"/>
    <p:sldId id="270" r:id="rId9"/>
    <p:sldId id="27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82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5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36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5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2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8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4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51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31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0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72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3783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35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38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1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54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5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3A1C593-65D0-4073-BCC9-577B9352EA97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38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Javascript</a:t>
            </a:r>
            <a:r>
              <a:rPr lang="en-US" dirty="0"/>
              <a:t>-</a:t>
            </a:r>
            <a:br>
              <a:rPr lang="en-US" dirty="0"/>
            </a:br>
            <a:r>
              <a:rPr lang="en-US" dirty="0"/>
              <a:t>Async and Fetch </a:t>
            </a:r>
            <a:r>
              <a:rPr lang="en-US" dirty="0" err="1"/>
              <a:t>api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2015" y="3764287"/>
            <a:ext cx="8637072" cy="977621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D8F2-2076-4642-4457-1BC84DB6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E512C-96E1-2F4E-B379-5CDC799D0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72" y="1086444"/>
            <a:ext cx="4876344" cy="544884"/>
          </a:xfrm>
        </p:spPr>
        <p:txBody>
          <a:bodyPr/>
          <a:lstStyle/>
          <a:p>
            <a:r>
              <a:rPr lang="en-IN" sz="3200" dirty="0"/>
              <a:t>Synchronous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B6CBD-7A91-C3CD-C8DA-1DC521A3F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0690" y="1788467"/>
            <a:ext cx="4876344" cy="341106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effectLst/>
              </a:rPr>
              <a:t>Operations are performed one after the other, in sequence. Each line of code waits for the previous one to finish before proceeding to the next.</a:t>
            </a:r>
          </a:p>
          <a:p>
            <a:r>
              <a:rPr lang="en-US" sz="2400" dirty="0">
                <a:effectLst/>
              </a:rPr>
              <a:t>This approach enhances the user experience by keeping the application responsive and preventing the UI from freezing during delays.</a:t>
            </a:r>
            <a:endParaRPr lang="en-US" sz="3200" dirty="0">
              <a:effectLst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BE09D-6185-4287-EB6B-9DAB7E9B61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152" y="1086444"/>
            <a:ext cx="4895330" cy="544883"/>
          </a:xfrm>
        </p:spPr>
        <p:txBody>
          <a:bodyPr/>
          <a:lstStyle/>
          <a:p>
            <a:r>
              <a:rPr lang="en-IN" sz="3200" dirty="0"/>
              <a:t>Asynchronous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EB4DC-CC79-50AB-EA65-52C5EE1FE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4968" y="1801922"/>
            <a:ext cx="4895330" cy="341106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effectLst/>
              </a:rPr>
              <a:t>A task can be initiated, and while waiting for it to complete, other tasks can proceed at the same time.</a:t>
            </a:r>
          </a:p>
          <a:p>
            <a:r>
              <a:rPr lang="en-US" sz="2400" dirty="0">
                <a:effectLst/>
              </a:rPr>
              <a:t>This approach enhances the user experience by keeping the application responsive and preventing the UI from freezing during delays.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2445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1025-A76E-6426-C33C-49F818E4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Synchronous                  Asynchronous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E1CBB-C816-4518-BD95-3B711D38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V="1">
            <a:off x="3661608" y="-397564"/>
            <a:ext cx="147067" cy="288944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DC6342-6CA4-73A0-1522-7D1F57F3A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1CB7206-9453-EC2E-3DFB-DD97FFB2B1D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913795" y="5875259"/>
            <a:ext cx="628738" cy="27626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354756-362A-C5F0-7693-2AB0FCA42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835254"/>
            <a:ext cx="4936632" cy="32399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4FC371-7665-A0C7-8F3D-F8EF938E9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676" y="1669320"/>
            <a:ext cx="5053647" cy="40562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E9EED4-D396-47E1-8F1E-F0685C98E4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676" y="5891471"/>
            <a:ext cx="59063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6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446B-0398-5F57-8844-1268EF43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asynchronous?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E30C-09DD-B4EF-5159-09DB23A6A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Asynchronous programming is used in JavaScript to perform long-running tasks, such as fetching data over a network or reading files.</a:t>
            </a:r>
          </a:p>
          <a:p>
            <a:r>
              <a:rPr lang="en-US" sz="2400" dirty="0"/>
              <a:t>While the program is performing these tasks, if we use synchronous code to do so, it is non-sensical and highly inefficient to wait for the task to complete, to proceed further.</a:t>
            </a:r>
          </a:p>
          <a:p>
            <a:r>
              <a:rPr lang="en-US" sz="2400" dirty="0"/>
              <a:t>To fix this, asynchronous code is used.</a:t>
            </a:r>
          </a:p>
          <a:p>
            <a:r>
              <a:rPr lang="en-US" sz="2400" dirty="0"/>
              <a:t>Example- A button on a website, whose respective lines of codes need to be shown only after clicking on it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2278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1078-9CBD-BFA6-1230-1D431D1FE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117A5-8FD1-32E1-F9E0-D832A06F6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90" y="1653622"/>
            <a:ext cx="5491793" cy="405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800" dirty="0"/>
              <a:t>To understand asynchronous code better, let us look at how timers work in </a:t>
            </a:r>
            <a:r>
              <a:rPr lang="en-IN" sz="2800" dirty="0" err="1"/>
              <a:t>javascript</a:t>
            </a:r>
            <a:r>
              <a:rPr lang="en-IN" sz="2800" dirty="0"/>
              <a:t>.</a:t>
            </a:r>
          </a:p>
          <a:p>
            <a:pPr marL="36900" indent="0">
              <a:buNone/>
            </a:pPr>
            <a:endParaRPr lang="en-IN" sz="2800" dirty="0"/>
          </a:p>
          <a:p>
            <a:pPr marL="36900" indent="0">
              <a:buNone/>
            </a:pPr>
            <a:r>
              <a:rPr lang="en-IN" sz="2800" dirty="0"/>
              <a:t>1) Set timeout</a:t>
            </a:r>
            <a:br>
              <a:rPr lang="en-IN" sz="2800" dirty="0"/>
            </a:br>
            <a:r>
              <a:rPr lang="en-IN" sz="2800" dirty="0"/>
              <a:t>2) Set interval</a:t>
            </a:r>
          </a:p>
        </p:txBody>
      </p:sp>
      <p:pic>
        <p:nvPicPr>
          <p:cNvPr id="1026" name="Picture 2" descr="Free Vectors | Stopwatch">
            <a:extLst>
              <a:ext uri="{FF2B5EF4-FFF2-40B4-BE49-F238E27FC236}">
                <a16:creationId xmlns:a16="http://schemas.microsoft.com/office/drawing/2014/main" id="{7594C58A-6B7C-F081-12D4-625AFD9C1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776" y="2063747"/>
            <a:ext cx="2924175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072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52A6-55A6-700F-E4DE-24935D62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Timeout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D98F-808A-F525-4C24-88BF15011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459" y="1732449"/>
            <a:ext cx="5288098" cy="4058751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IN" sz="2800" dirty="0"/>
              <a:t>Timeout executes a function or a line of code after the specified interval.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Note- 1000 means after 1 second. </a:t>
            </a:r>
          </a:p>
          <a:p>
            <a:pPr marL="36900" indent="0">
              <a:buNone/>
            </a:pPr>
            <a:r>
              <a:rPr lang="en-IN" sz="2800" dirty="0"/>
              <a:t>Hence, 1 unit = 0.1 millisecond.</a:t>
            </a:r>
          </a:p>
          <a:p>
            <a:pPr marL="36900" indent="0">
              <a:buNone/>
            </a:pPr>
            <a:endParaRPr lang="en-IN" sz="2800" dirty="0"/>
          </a:p>
          <a:p>
            <a:pPr marL="36900" indent="0">
              <a:buNone/>
            </a:pPr>
            <a:r>
              <a:rPr lang="en-IN" dirty="0"/>
              <a:t>                                                                             </a:t>
            </a:r>
            <a:r>
              <a:rPr lang="en-IN" sz="4800" dirty="0"/>
              <a:t>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EA9CF-B724-D72C-FC52-6DFC1B2D9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1732449"/>
            <a:ext cx="4991797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05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C984-31D1-A5E4-C2A9-D767BBD41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716" y="968187"/>
            <a:ext cx="6191300" cy="4688541"/>
          </a:xfrm>
        </p:spPr>
        <p:txBody>
          <a:bodyPr>
            <a:normAutofit/>
          </a:bodyPr>
          <a:lstStyle/>
          <a:p>
            <a:pPr algn="just"/>
            <a:r>
              <a:rPr lang="en-IN" dirty="0" err="1"/>
              <a:t>Q.What</a:t>
            </a:r>
            <a:r>
              <a:rPr lang="en-IN" dirty="0"/>
              <a:t> happens when all three calls are set to the same time?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285F42-49F4-35C8-524F-E2444D753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780" y="1130441"/>
            <a:ext cx="4972394" cy="459711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77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C994-1563-6254-FBDD-20C79016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Interval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D3499-BFAD-B812-A231-7307FC29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807" y="1732449"/>
            <a:ext cx="4732750" cy="405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800" dirty="0"/>
              <a:t>Interval is used to permanently set a line of code or function to execute after every given interval.</a:t>
            </a:r>
          </a:p>
          <a:p>
            <a:pPr marL="36900" indent="0">
              <a:buNone/>
            </a:pPr>
            <a:endParaRPr lang="en-IN" sz="2800" dirty="0"/>
          </a:p>
          <a:p>
            <a:pPr marL="36900" indent="0">
              <a:buNone/>
            </a:pPr>
            <a:r>
              <a:rPr lang="en-IN" sz="2800" dirty="0"/>
              <a:t>Here the Output is a live timer which updates itself every second.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AAB89-1210-D4B9-1ECE-788938EFB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685152"/>
            <a:ext cx="5403350" cy="471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3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F46C-3277-1252-91BF-F5BD80F5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Trivia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D3A98-08D3-A036-EB85-1E0540F76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67" y="5052849"/>
            <a:ext cx="11330817" cy="147670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IN" sz="2800" dirty="0"/>
              <a:t>Q. What’s the difference in these two codes? What will be their output?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02F18-46C0-4B9D-6181-826B87B0C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83" y="1732449"/>
            <a:ext cx="4820323" cy="3029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E3EEC1-332C-FDCE-3ABB-4CBEC8E28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2" y="1732449"/>
            <a:ext cx="479174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139D-4AC5-3454-B9F6-6C813B8E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can I make asynchronous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1A459-AD61-F5FF-DC10-10B5ED5B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There are many methods to achieve asynchronous code-</a:t>
            </a:r>
          </a:p>
          <a:p>
            <a:pPr marL="494100" indent="-457200">
              <a:buFont typeface="+mj-lt"/>
              <a:buAutoNum type="arabicPeriod"/>
            </a:pPr>
            <a:r>
              <a:rPr lang="en-IN" dirty="0"/>
              <a:t>Callback method (</a:t>
            </a:r>
            <a:r>
              <a:rPr lang="en-US" dirty="0"/>
              <a:t>“I must explicitly tell JS: after this finishes, run this function.”</a:t>
            </a:r>
            <a:r>
              <a:rPr lang="en-IN" dirty="0"/>
              <a:t>) </a:t>
            </a:r>
          </a:p>
          <a:p>
            <a:pPr marL="494100" indent="-457200">
              <a:buFont typeface="+mj-lt"/>
              <a:buAutoNum type="arabicPeriod"/>
            </a:pPr>
            <a:r>
              <a:rPr lang="en-IN" dirty="0"/>
              <a:t>Promise method (</a:t>
            </a:r>
            <a:r>
              <a:rPr lang="en-US" dirty="0"/>
              <a:t>“JS manages the states, I manage what to do with the states.“</a:t>
            </a:r>
            <a:r>
              <a:rPr lang="en-IN" dirty="0"/>
              <a:t>)</a:t>
            </a:r>
          </a:p>
          <a:p>
            <a:pPr marL="494100" indent="-457200">
              <a:buFont typeface="+mj-lt"/>
              <a:buAutoNum type="arabicPeriod"/>
            </a:pPr>
            <a:r>
              <a:rPr lang="en-IN" dirty="0"/>
              <a:t>Async/Await method (</a:t>
            </a:r>
            <a:r>
              <a:rPr lang="en-US" dirty="0"/>
              <a:t>“I write code as if it’s synchronous. JavaScript pauses and resumes automatically.”</a:t>
            </a:r>
            <a:r>
              <a:rPr lang="en-IN" dirty="0"/>
              <a:t>)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IN" sz="2800" b="1" dirty="0"/>
              <a:t>                 Callbacks &lt; Promises &lt; Async/Await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62EFAA-A47B-30D7-8B92-1BC881C07C41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3578701"/>
          <a:ext cx="10353675" cy="365760"/>
        </p:xfrm>
        <a:graphic>
          <a:graphicData uri="http://schemas.openxmlformats.org/drawingml/2006/table">
            <a:tbl>
              <a:tblPr/>
              <a:tblGrid>
                <a:gridCol w="10353675">
                  <a:extLst>
                    <a:ext uri="{9D8B030D-6E8A-4147-A177-3AD203B41FA5}">
                      <a16:colId xmlns:a16="http://schemas.microsoft.com/office/drawing/2014/main" val="3635138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0081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3B9D38-09A2-5C1A-66F7-82E771062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404357"/>
              </p:ext>
            </p:extLst>
          </p:nvPr>
        </p:nvGraphicFramePr>
        <p:xfrm>
          <a:off x="914400" y="3578701"/>
          <a:ext cx="10353675" cy="365760"/>
        </p:xfrm>
        <a:graphic>
          <a:graphicData uri="http://schemas.openxmlformats.org/drawingml/2006/table">
            <a:tbl>
              <a:tblPr/>
              <a:tblGrid>
                <a:gridCol w="10353675">
                  <a:extLst>
                    <a:ext uri="{9D8B030D-6E8A-4147-A177-3AD203B41FA5}">
                      <a16:colId xmlns:a16="http://schemas.microsoft.com/office/drawing/2014/main" val="1440650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63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50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E9C5-262B-5102-AF7A-2E79CF24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09760"/>
            <a:ext cx="10353762" cy="970450"/>
          </a:xfrm>
        </p:spPr>
        <p:txBody>
          <a:bodyPr/>
          <a:lstStyle/>
          <a:p>
            <a:r>
              <a:rPr lang="en-IN" dirty="0"/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BC00-3706-8D83-9D1F-49693CCA1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944445"/>
            <a:ext cx="10353762" cy="4058751"/>
          </a:xfrm>
        </p:spPr>
        <p:txBody>
          <a:bodyPr/>
          <a:lstStyle/>
          <a:p>
            <a:r>
              <a:rPr lang="en-IN" dirty="0"/>
              <a:t>A function is passed as an argument to another function.</a:t>
            </a:r>
          </a:p>
          <a:p>
            <a:r>
              <a:rPr lang="en-IN" dirty="0"/>
              <a:t>“Run this code when the asynchronous task finishes.”</a:t>
            </a:r>
          </a:p>
          <a:p>
            <a:pPr marL="36900" indent="0">
              <a:buNone/>
            </a:pPr>
            <a:r>
              <a:rPr lang="en-IN" sz="3200" dirty="0"/>
              <a:t>     Without callback                                With callback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7525CF-2D5D-AABF-8564-F859B1890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5" y="2452320"/>
            <a:ext cx="5691182" cy="2736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95899E-D8FB-6FA1-9754-CBFD224E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5" y="5374930"/>
            <a:ext cx="1943371" cy="409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E80D8-EE59-55D4-473E-354A39E0F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676" y="5777924"/>
            <a:ext cx="1219370" cy="409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1ECF21-DFA9-8902-041C-695C245C8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324" y="2452320"/>
            <a:ext cx="5573387" cy="310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8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F0A55-1907-5FBD-AAA5-292EDAE7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2251-3A55-17E5-0808-D77031061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>
                <a:effectLst/>
              </a:rPr>
              <a:t>Promises are a better way of executing callbacks. It helps in handling errors, if execution fails.  </a:t>
            </a:r>
          </a:p>
          <a:p>
            <a:pPr marL="36900" indent="0">
              <a:buNone/>
            </a:pPr>
            <a:endParaRPr lang="en-US" dirty="0">
              <a:effectLst/>
            </a:endParaRPr>
          </a:p>
          <a:p>
            <a:pPr marL="36900" indent="0">
              <a:buNone/>
            </a:pPr>
            <a:r>
              <a:rPr lang="en-US" dirty="0">
                <a:effectLst/>
              </a:rPr>
              <a:t>A promise can be in one of three exclusive states:</a:t>
            </a:r>
          </a:p>
          <a:p>
            <a:r>
              <a:rPr lang="en-US" b="1" dirty="0">
                <a:effectLst/>
              </a:rPr>
              <a:t>Pending: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The initial state; the operation has started but is neither fulfilled nor rejected.</a:t>
            </a:r>
          </a:p>
          <a:p>
            <a:r>
              <a:rPr lang="en-US" b="1" dirty="0">
                <a:effectLst/>
              </a:rPr>
              <a:t>Fulfilled: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The operation completed successfully, and a value is available.</a:t>
            </a:r>
          </a:p>
          <a:p>
            <a:r>
              <a:rPr lang="en-US" b="1" dirty="0">
                <a:effectLst/>
              </a:rPr>
              <a:t>Rejected: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The operation failed, and a reason (error) is available.</a:t>
            </a:r>
          </a:p>
          <a:p>
            <a:r>
              <a:rPr lang="en-US" dirty="0">
                <a:effectLst/>
              </a:rPr>
              <a:t>A promise is considered </a:t>
            </a:r>
            <a:r>
              <a:rPr lang="en-US" b="1" dirty="0">
                <a:effectLst/>
              </a:rPr>
              <a:t>settled</a:t>
            </a:r>
            <a:r>
              <a:rPr lang="en-US" dirty="0">
                <a:effectLst/>
              </a:rPr>
              <a:t> if it is fulfilled or rejected (not pending).</a:t>
            </a:r>
          </a:p>
        </p:txBody>
      </p:sp>
    </p:spTree>
    <p:extLst>
      <p:ext uri="{BB962C8B-B14F-4D97-AF65-F5344CB8AC3E}">
        <p14:creationId xmlns:p14="http://schemas.microsoft.com/office/powerpoint/2010/main" val="332416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AF24-989F-789E-78D6-CD278329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573E5-498B-2F65-C43E-61A6FC10B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60" y="2536660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IN" dirty="0"/>
              <a:t>  Syntax-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5FB8B-292C-7D08-8FA8-137AA64E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995" y="1739726"/>
            <a:ext cx="4829361" cy="425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84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DE0D-D444-9FA5-821D-861E7BB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14F65-C2F5-F169-7F38-3FD1245FD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Using .then                                                                          Using .then with .catch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958D7-15BE-418D-E343-168EF51E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302" y="2398214"/>
            <a:ext cx="3109413" cy="2119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CD7FD3-F2B7-7FDC-05C2-809FF89B2D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169" r="26803"/>
          <a:stretch>
            <a:fillRect/>
          </a:stretch>
        </p:blipFill>
        <p:spPr>
          <a:xfrm>
            <a:off x="913795" y="2295869"/>
            <a:ext cx="4120997" cy="1133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7D2D4-6E13-F27E-B759-24B1409E9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318" y="2398214"/>
            <a:ext cx="3225749" cy="206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92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7584-4D66-E2F2-9FB5-7C5A8BAF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 Await and 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44EDF-F8A8-54EC-C22B-AA0C96DB6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578540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en-US" dirty="0">
                <a:effectLst/>
              </a:rPr>
              <a:t>Promise chains can become long.</a:t>
            </a:r>
          </a:p>
          <a:p>
            <a:pPr marL="36900" indent="0">
              <a:buNone/>
            </a:pPr>
            <a:r>
              <a:rPr lang="en-US" dirty="0">
                <a:effectLst/>
              </a:rPr>
              <a:t>Async and await were created to reduce nesting and improve readability.</a:t>
            </a:r>
          </a:p>
          <a:p>
            <a:pPr marL="36900" indent="0">
              <a:buNone/>
            </a:pPr>
            <a:endParaRPr lang="en-US" dirty="0">
              <a:effectLst/>
            </a:endParaRPr>
          </a:p>
          <a:p>
            <a:pPr marL="36900" indent="0">
              <a:buNone/>
            </a:pPr>
            <a:endParaRPr lang="en-US" dirty="0">
              <a:effectLst/>
            </a:endParaRPr>
          </a:p>
          <a:p>
            <a:pPr marL="36900" indent="0">
              <a:buNone/>
            </a:pPr>
            <a:r>
              <a:rPr lang="en-US" dirty="0">
                <a:effectLst/>
              </a:rPr>
              <a:t>With Promise                                                                                            With Async Await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4293D-1DE5-1F0C-2581-338952784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149"/>
          <a:stretch>
            <a:fillRect/>
          </a:stretch>
        </p:blipFill>
        <p:spPr>
          <a:xfrm>
            <a:off x="4359195" y="3022373"/>
            <a:ext cx="2645660" cy="1895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ADD82-77C8-F191-0DE5-38E47278A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87" y="4692635"/>
            <a:ext cx="3654618" cy="1889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CC739E-8A25-1B92-D3C9-6D218A6D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882"/>
          <a:stretch>
            <a:fillRect/>
          </a:stretch>
        </p:blipFill>
        <p:spPr>
          <a:xfrm>
            <a:off x="774004" y="4519794"/>
            <a:ext cx="2645660" cy="1985739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3B4DFE1-A9AA-49BE-6E87-EFFF0683F48B}"/>
              </a:ext>
            </a:extLst>
          </p:cNvPr>
          <p:cNvCxnSpPr>
            <a:cxnSpLocks/>
            <a:stCxn id="5" idx="1"/>
            <a:endCxn id="8" idx="0"/>
          </p:cNvCxnSpPr>
          <p:nvPr/>
        </p:nvCxnSpPr>
        <p:spPr>
          <a:xfrm rot="10800000" flipV="1">
            <a:off x="2096835" y="3970350"/>
            <a:ext cx="2262361" cy="5494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9E315516-9193-6FBC-AC32-57F641A56B4C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7004855" y="3970350"/>
            <a:ext cx="2766841" cy="7222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59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ABD7-2CB1-CCF4-EFC1-9C1B3E20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A0933-A738-0E8F-B288-39885910F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Putting keyword async before your function makes it return a Promise.</a:t>
            </a:r>
            <a:br>
              <a:rPr lang="en-IN" dirty="0"/>
            </a:br>
            <a:endParaRPr lang="en-IN" dirty="0"/>
          </a:p>
          <a:p>
            <a:pPr marL="36900" indent="0">
              <a:buNone/>
            </a:pPr>
            <a:r>
              <a:rPr lang="en-US" dirty="0">
                <a:effectLst/>
              </a:rPr>
              <a:t>async function </a:t>
            </a:r>
            <a:r>
              <a:rPr lang="en-US" dirty="0" err="1">
                <a:effectLst/>
              </a:rPr>
              <a:t>myFunction</a:t>
            </a:r>
            <a:r>
              <a:rPr lang="en-US" dirty="0">
                <a:effectLst/>
              </a:rPr>
              <a:t>() {</a:t>
            </a:r>
            <a:br>
              <a:rPr lang="en-US" dirty="0"/>
            </a:br>
            <a:r>
              <a:rPr lang="en-US" dirty="0">
                <a:effectLst/>
              </a:rPr>
              <a:t>  return "Hello";</a:t>
            </a:r>
            <a:br>
              <a:rPr lang="en-US" dirty="0"/>
            </a:br>
            <a:r>
              <a:rPr lang="en-US" dirty="0">
                <a:effectLst/>
              </a:rPr>
              <a:t>}</a:t>
            </a:r>
          </a:p>
          <a:p>
            <a:pPr marL="36900" indent="0">
              <a:buNone/>
            </a:pPr>
            <a:r>
              <a:rPr lang="en-IN" dirty="0"/>
              <a:t>-&gt;is the same as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US" dirty="0">
                <a:effectLst/>
              </a:rPr>
              <a:t>function </a:t>
            </a:r>
            <a:r>
              <a:rPr lang="en-US" dirty="0" err="1">
                <a:effectLst/>
              </a:rPr>
              <a:t>myFunction</a:t>
            </a:r>
            <a:r>
              <a:rPr lang="en-US" dirty="0">
                <a:effectLst/>
              </a:rPr>
              <a:t>() {</a:t>
            </a:r>
            <a:br>
              <a:rPr lang="en-US" dirty="0"/>
            </a:br>
            <a:r>
              <a:rPr lang="en-US" dirty="0">
                <a:effectLst/>
              </a:rPr>
              <a:t>  return </a:t>
            </a:r>
            <a:r>
              <a:rPr lang="en-US" dirty="0" err="1">
                <a:effectLst/>
              </a:rPr>
              <a:t>Promise.resolve</a:t>
            </a:r>
            <a:r>
              <a:rPr lang="en-US" dirty="0">
                <a:effectLst/>
              </a:rPr>
              <a:t>("Hello");</a:t>
            </a:r>
            <a:br>
              <a:rPr lang="en-US" dirty="0"/>
            </a:br>
            <a:r>
              <a:rPr lang="en-US" dirty="0">
                <a:effectLst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760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68C5-A4C4-926F-AFA6-23EA52D2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24B5-048A-7DE8-5772-1B6ED4A9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Await pauses the execution of the code until a resolved promise is returned.</a:t>
            </a:r>
          </a:p>
          <a:p>
            <a:pPr marL="36900" indent="0">
              <a:buNone/>
            </a:pPr>
            <a:r>
              <a:rPr lang="en-US" dirty="0">
                <a:effectLst/>
              </a:rPr>
              <a:t>Example-</a:t>
            </a:r>
          </a:p>
          <a:p>
            <a:pPr marL="36900" indent="0">
              <a:buNone/>
            </a:pPr>
            <a:r>
              <a:rPr lang="en-US" dirty="0">
                <a:effectLst/>
              </a:rPr>
              <a:t>async function step1() {</a:t>
            </a:r>
            <a:br>
              <a:rPr lang="en-US" dirty="0"/>
            </a:br>
            <a:r>
              <a:rPr lang="en-US" dirty="0">
                <a:effectLst/>
              </a:rPr>
              <a:t>  return "A";</a:t>
            </a:r>
            <a:br>
              <a:rPr lang="en-US" dirty="0"/>
            </a:br>
            <a:r>
              <a:rPr lang="en-US" dirty="0">
                <a:effectLst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async function run() {</a:t>
            </a:r>
            <a:br>
              <a:rPr lang="en-US" dirty="0"/>
            </a:br>
            <a:r>
              <a:rPr lang="en-US" dirty="0">
                <a:effectLst/>
              </a:rPr>
              <a:t>  let value = await step1();</a:t>
            </a:r>
            <a:br>
              <a:rPr lang="en-US" dirty="0"/>
            </a:br>
            <a:r>
              <a:rPr lang="en-US" dirty="0">
                <a:effectLst/>
              </a:rPr>
              <a:t>  </a:t>
            </a:r>
            <a:r>
              <a:rPr lang="en-US" dirty="0" err="1">
                <a:effectLst/>
              </a:rPr>
              <a:t>myDisplayer</a:t>
            </a:r>
            <a:r>
              <a:rPr lang="en-US" dirty="0">
                <a:effectLst/>
              </a:rPr>
              <a:t>(value);</a:t>
            </a:r>
            <a:br>
              <a:rPr lang="en-US" dirty="0"/>
            </a:br>
            <a:r>
              <a:rPr lang="en-US" dirty="0">
                <a:effectLst/>
              </a:rPr>
              <a:t>}</a:t>
            </a:r>
            <a:br>
              <a:rPr lang="en-US" dirty="0"/>
            </a:br>
            <a:br>
              <a:rPr lang="en-US" dirty="0"/>
            </a:br>
            <a:r>
              <a:rPr lang="en-US" dirty="0">
                <a:effectLst/>
              </a:rPr>
              <a:t>run();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72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F9E2-2621-70DC-610A-DD039683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rejects are handled with async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62F08-1DB4-4343-8482-448CEC55F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711" y="1657407"/>
            <a:ext cx="6258235" cy="4058751"/>
          </a:xfrm>
        </p:spPr>
        <p:txBody>
          <a:bodyPr/>
          <a:lstStyle/>
          <a:p>
            <a:pPr marL="36900" indent="0">
              <a:buNone/>
            </a:pPr>
            <a:r>
              <a:rPr lang="en-IN" dirty="0"/>
              <a:t>Here, the promise is hard coded to return a reject.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Suppose </a:t>
            </a:r>
            <a:r>
              <a:rPr lang="en-IN" dirty="0" err="1"/>
              <a:t>xyz</a:t>
            </a:r>
            <a:r>
              <a:rPr lang="en-IN" dirty="0"/>
              <a:t> has some long lines of code and returns reject/resolve based on if it was successful.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resolved, the run() function is continued.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reject, it is treated as “throw” with the same value.</a:t>
            </a:r>
          </a:p>
          <a:p>
            <a:pPr marL="36900" indent="0">
              <a:buNone/>
            </a:pPr>
            <a:r>
              <a:rPr lang="en-IN" dirty="0"/>
              <a:t>And the value is then passed onto catch and executes that lines of code.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F6F841-F8F4-1824-3874-DE51E1B0F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62" y="1891678"/>
            <a:ext cx="4670755" cy="3590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1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3D74-9163-A025-5675-B43ECCF9C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Sequential vs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5CE72-6B60-223D-4D2B-5D1023320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When dealing with multiple awaits, you must choose whether to handle them sequentially or </a:t>
            </a:r>
            <a:r>
              <a:rPr lang="en-IN" dirty="0" err="1"/>
              <a:t>parallely</a:t>
            </a:r>
            <a:r>
              <a:rPr lang="en-IN" dirty="0"/>
              <a:t>.</a:t>
            </a:r>
          </a:p>
          <a:p>
            <a:r>
              <a:rPr lang="en-IN" dirty="0"/>
              <a:t>If the execution of the next step depends on the previous, use sequential (multiple await).</a:t>
            </a:r>
          </a:p>
          <a:p>
            <a:r>
              <a:rPr lang="en-IN" dirty="0"/>
              <a:t>If they are independent of each other, use parallel (only one await at the last).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EB198-25F4-A90B-48E0-418F282B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748" y="3438197"/>
            <a:ext cx="2514951" cy="1390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EC3F7-2679-D3A5-5C6C-3E0DACD22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676" y="3438197"/>
            <a:ext cx="437258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8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AF73-B7E4-B825-87F9-4B2FBA0D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0E7C-859B-675E-A1EE-20DBC183B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Fetch is used to request data from a server. Return type is a Promise.</a:t>
            </a:r>
          </a:p>
          <a:p>
            <a:pPr marL="36900" indent="0">
              <a:buNone/>
            </a:pPr>
            <a:r>
              <a:rPr lang="en-IN" dirty="0"/>
              <a:t>     Requesting data from a server can be done with Callbacks as well, but Fetch is easier to use.</a:t>
            </a:r>
            <a:br>
              <a:rPr lang="en-IN" dirty="0"/>
            </a:br>
            <a:r>
              <a:rPr lang="en-IN" dirty="0"/>
              <a:t>     Used in tandem with async and await for further ease of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6A2B3-B281-C758-E250-D01CF68C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53" y="3429000"/>
            <a:ext cx="4267796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E57B0A-5583-A1F3-68B5-A7D082C6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51" y="3761824"/>
            <a:ext cx="3096057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14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9054-A5B3-B383-A7B4-A3D826567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Brief explanation on Servers, API, JSON.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4879-8288-7302-DBF5-0FD2A3B2D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Explanation in class</a:t>
            </a:r>
          </a:p>
        </p:txBody>
      </p:sp>
    </p:spTree>
    <p:extLst>
      <p:ext uri="{BB962C8B-B14F-4D97-AF65-F5344CB8AC3E}">
        <p14:creationId xmlns:p14="http://schemas.microsoft.com/office/powerpoint/2010/main" val="16441853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341</TotalTime>
  <Words>868</Words>
  <Application>Microsoft Office PowerPoint</Application>
  <PresentationFormat>Widescreen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Calisto MT</vt:lpstr>
      <vt:lpstr>Wingdings 2</vt:lpstr>
      <vt:lpstr>Slate</vt:lpstr>
      <vt:lpstr>Javascript- Async and Fetch api</vt:lpstr>
      <vt:lpstr>PowerPoint Presentation</vt:lpstr>
      <vt:lpstr>Synchronous                  Asynchronous</vt:lpstr>
      <vt:lpstr>Why asynchronous?</vt:lpstr>
      <vt:lpstr>Timers</vt:lpstr>
      <vt:lpstr>Timeout Demonstration</vt:lpstr>
      <vt:lpstr>Q.What happens when all three calls are set to the same time?</vt:lpstr>
      <vt:lpstr>Interval demonstration</vt:lpstr>
      <vt:lpstr>Trivia</vt:lpstr>
      <vt:lpstr>How can I make asynchronous code?</vt:lpstr>
      <vt:lpstr>Callbacks</vt:lpstr>
      <vt:lpstr>Promises</vt:lpstr>
      <vt:lpstr>Promises</vt:lpstr>
      <vt:lpstr>Promises</vt:lpstr>
      <vt:lpstr>Async Await and Fetch</vt:lpstr>
      <vt:lpstr>Async</vt:lpstr>
      <vt:lpstr>Await</vt:lpstr>
      <vt:lpstr>How rejects are handled with async</vt:lpstr>
      <vt:lpstr>Sequential vs parallel</vt:lpstr>
      <vt:lpstr>Fetch</vt:lpstr>
      <vt:lpstr>Brief explanation on Servers, API, JSON.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Mayank Batham</dc:creator>
  <cp:lastModifiedBy>Mayank Batham</cp:lastModifiedBy>
  <cp:revision>5</cp:revision>
  <dcterms:created xsi:type="dcterms:W3CDTF">2025-07-23T00:59:00Z</dcterms:created>
  <dcterms:modified xsi:type="dcterms:W3CDTF">2026-02-21T10:44:04Z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